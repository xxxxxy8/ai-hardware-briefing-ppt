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1000X VISION &amp; ECO-SYSTEM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200"/>
              </a:spcAft>
              <a:defRPr sz="2400" b="1">
                <a:solidFill>
                  <a:srgbClr val="38BDF8"/>
                </a:solidFill>
                <a:latin typeface="Calibri"/>
              </a:defRPr>
            </a:pPr>
            <a:r>
              <a:t>▪  Achieve 1000x efficiency in AI training and inference</a:t>
            </a:r>
          </a:p>
          <a:p>
            <a:pPr>
              <a:spcAft>
                <a:spcPts val="2200"/>
              </a:spcAft>
              <a:defRPr sz="2400">
                <a:solidFill>
                  <a:srgbClr val="94A3B8"/>
                </a:solidFill>
                <a:latin typeface="Calibri"/>
              </a:defRPr>
            </a:pPr>
            <a:r>
              <a:t>▪  Shift from compute-centric to memory-centric architectures</a:t>
            </a:r>
          </a:p>
          <a:p>
            <a:pPr>
              <a:spcAft>
                <a:spcPts val="2200"/>
              </a:spcAft>
              <a:defRPr sz="2400">
                <a:solidFill>
                  <a:srgbClr val="94A3B8"/>
                </a:solidFill>
                <a:latin typeface="Calibri"/>
              </a:defRPr>
            </a:pPr>
            <a:r>
              <a:t>▪  Enable energy-aware, self-optimizing systems across cloud-edge</a:t>
            </a:r>
          </a:p>
          <a:p>
            <a:pPr>
              <a:spcAft>
                <a:spcPts val="2200"/>
              </a:spcAft>
              <a:defRPr sz="2400">
                <a:solidFill>
                  <a:srgbClr val="94A3B8"/>
                </a:solidFill>
                <a:latin typeface="Calibri"/>
              </a:defRPr>
            </a:pPr>
            <a:r>
              <a:t>▪  Democratize access to advanced AI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THREE ABSTRACTION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600"/>
              </a:spcAft>
              <a:defRPr sz="2400" b="1">
                <a:solidFill>
                  <a:srgbClr val="38BDF8"/>
                </a:solidFill>
                <a:latin typeface="Calibri"/>
              </a:defRPr>
            </a:pPr>
            <a:r>
              <a:t>▪  Hardware Layer: memory-centric 3D integration, photonic interconnects, AI-driven EDA</a:t>
            </a:r>
          </a:p>
          <a:p>
            <a:pPr>
              <a:spcAft>
                <a:spcPts val="3600"/>
              </a:spcAft>
              <a:defRPr sz="2400">
                <a:solidFill>
                  <a:srgbClr val="94A3B8"/>
                </a:solidFill>
                <a:latin typeface="Calibri"/>
              </a:defRPr>
            </a:pPr>
            <a:r>
              <a:t>▪  Algorithm Layer: hardware-aware training, AI-in-the-loop design, physics-informed learning</a:t>
            </a:r>
          </a:p>
          <a:p>
            <a:pPr>
              <a:spcAft>
                <a:spcPts val="3600"/>
              </a:spcAft>
              <a:defRPr sz="2400">
                <a:solidFill>
                  <a:srgbClr val="94A3B8"/>
                </a:solidFill>
                <a:latin typeface="Calibri"/>
              </a:defRPr>
            </a:pPr>
            <a:r>
              <a:t>▪  Application Layer: domain-specific AI, hybrid edge-cloud, intelligence per joule metric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al"/>
              </a:defRPr>
            </a:pPr>
            <a:r>
              <a:t>FUTURE TRENDS &amp; OBSTACLES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200"/>
              </a:spcAft>
              <a:defRPr sz="2400" b="1">
                <a:solidFill>
                  <a:srgbClr val="38BDF8"/>
                </a:solidFill>
                <a:latin typeface="Calibri"/>
              </a:defRPr>
            </a:pPr>
            <a:r>
              <a:t>▪  Near-Term: domain-specific accelerators, HBM, 3D packaging, edge AI</a:t>
            </a:r>
          </a:p>
          <a:p>
            <a:pPr>
              <a:spcAft>
                <a:spcPts val="2200"/>
              </a:spcAft>
              <a:defRPr sz="2400">
                <a:solidFill>
                  <a:srgbClr val="94A3B8"/>
                </a:solidFill>
                <a:latin typeface="Calibri"/>
              </a:defRPr>
            </a:pPr>
            <a:r>
              <a:t>▪  Long-Term: quantum-accelerated AI, photonic computing, compute-in-memory</a:t>
            </a:r>
          </a:p>
          <a:p>
            <a:pPr>
              <a:spcAft>
                <a:spcPts val="2200"/>
              </a:spcAft>
              <a:defRPr sz="2400">
                <a:solidFill>
                  <a:srgbClr val="94A3B8"/>
                </a:solidFill>
                <a:latin typeface="Calibri"/>
              </a:defRPr>
            </a:pPr>
            <a:r>
              <a:t>▪  Main Obstacle: noise/drift in analog systems, fragmented software, SDC risks</a:t>
            </a:r>
          </a:p>
          <a:p>
            <a:pPr>
              <a:spcAft>
                <a:spcPts val="2200"/>
              </a:spcAft>
              <a:defRPr sz="2400">
                <a:solidFill>
                  <a:srgbClr val="94A3B8"/>
                </a:solidFill>
                <a:latin typeface="Calibri"/>
              </a:defRPr>
            </a:pPr>
            <a:r>
              <a:t>▪  Solution: algorithmic robustness, adaptive calibration, cross-layer reliability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